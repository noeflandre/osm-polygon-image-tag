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a3dc716912475b" /><Relationship Type="http://schemas.openxmlformats.org/officeDocument/2006/relationships/extended-properties" Target="/docProps/app.xml" Id="Rf996e77ef4594455" /><Relationship Type="http://schemas.openxmlformats.org/officeDocument/2006/relationships/officeDocument" Target="/ppt/presentation.xml" Id="R8d25f25d2ca345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0a9dddc3864208"/>
  </p:sldMasterIdLst>
  <p:notesMasterIdLst>
    <p:notesMasterId xmlns:r="http://schemas.openxmlformats.org/officeDocument/2006/relationships" r:id="R1996d277e5c0423e"/>
  </p:notesMasterIdLst>
  <p:sldIdLst>
    <p:sldId xmlns:r="http://schemas.openxmlformats.org/officeDocument/2006/relationships" id="256" r:id="Rbd6926442ead4e7e"/>
    <p:sldId xmlns:r="http://schemas.openxmlformats.org/officeDocument/2006/relationships" id="257" r:id="Rfd27fe0e004f4787"/>
    <p:sldId xmlns:r="http://schemas.openxmlformats.org/officeDocument/2006/relationships" id="258" r:id="Rc0149ad342a348e7"/>
    <p:sldId xmlns:r="http://schemas.openxmlformats.org/officeDocument/2006/relationships" id="259" r:id="Rd7e5cc1d240c402c"/>
    <p:sldId xmlns:r="http://schemas.openxmlformats.org/officeDocument/2006/relationships" id="260" r:id="R7edaa6ee51e74fde"/>
    <p:sldId xmlns:r="http://schemas.openxmlformats.org/officeDocument/2006/relationships" id="261" r:id="Re6c9deae758f4d6d"/>
    <p:sldId xmlns:r="http://schemas.openxmlformats.org/officeDocument/2006/relationships" id="262" r:id="R925445f85a6b40c4"/>
    <p:sldId xmlns:r="http://schemas.openxmlformats.org/officeDocument/2006/relationships" id="263" r:id="Ra8dca667db0c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2fd4933e940fc" /><Relationship Type="http://schemas.openxmlformats.org/officeDocument/2006/relationships/slideMaster" Target="/ppt/slideMasters/slideMaster1.xml" Id="R5f0a9dddc3864208" /><Relationship Type="http://schemas.openxmlformats.org/officeDocument/2006/relationships/notesMaster" Target="/ppt/notesMasters/notesMaster1.xml" Id="R1996d277e5c0423e" /><Relationship Type="http://schemas.openxmlformats.org/officeDocument/2006/relationships/presProps" Target="/ppt/presProps.xml" Id="Rb0f7014e39bf435f" /><Relationship Type="http://schemas.openxmlformats.org/officeDocument/2006/relationships/tableStyles" Target="/ppt/tableStyles.xml" Id="Rf66157d84c46416f" /><Relationship Type="http://schemas.openxmlformats.org/officeDocument/2006/relationships/slide" Target="/ppt/slides/slide1.xml" Id="Rbd6926442ead4e7e" /><Relationship Type="http://schemas.openxmlformats.org/officeDocument/2006/relationships/slide" Target="/ppt/slides/slide2.xml" Id="Rfd27fe0e004f4787" /><Relationship Type="http://schemas.openxmlformats.org/officeDocument/2006/relationships/slide" Target="/ppt/slides/slide3.xml" Id="Rc0149ad342a348e7" /><Relationship Type="http://schemas.openxmlformats.org/officeDocument/2006/relationships/slide" Target="/ppt/slides/slide4.xml" Id="Rd7e5cc1d240c402c" /><Relationship Type="http://schemas.openxmlformats.org/officeDocument/2006/relationships/slide" Target="/ppt/slides/slide5.xml" Id="R7edaa6ee51e74fde" /><Relationship Type="http://schemas.openxmlformats.org/officeDocument/2006/relationships/slide" Target="/ppt/slides/slide6.xml" Id="Re6c9deae758f4d6d" /><Relationship Type="http://schemas.openxmlformats.org/officeDocument/2006/relationships/slide" Target="/ppt/slides/slide7.xml" Id="R925445f85a6b40c4" /><Relationship Type="http://schemas.openxmlformats.org/officeDocument/2006/relationships/slide" Target="/ppt/slides/slide8.xml" Id="Ra8dca667db0c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9959e4859146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150db6b1e54cd1" /><Relationship Type="http://schemas.openxmlformats.org/officeDocument/2006/relationships/notesMaster" Target="/ppt/notesMasters/notesMaster1.xml" Id="R6c4d9de0bf59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848f3ac2814b0c" /><Relationship Type="http://schemas.openxmlformats.org/officeDocument/2006/relationships/notesMaster" Target="/ppt/notesMasters/notesMaster1.xml" Id="R06d12b69e7bd4a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d8ea9833744bc1" /><Relationship Type="http://schemas.openxmlformats.org/officeDocument/2006/relationships/notesMaster" Target="/ppt/notesMasters/notesMaster1.xml" Id="R4c561e2a8ebc47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326740ebb147f5" /><Relationship Type="http://schemas.openxmlformats.org/officeDocument/2006/relationships/notesMaster" Target="/ppt/notesMasters/notesMaster1.xml" Id="Ra57183af5d0b4f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51e00817844ec0" /><Relationship Type="http://schemas.openxmlformats.org/officeDocument/2006/relationships/notesMaster" Target="/ppt/notesMasters/notesMaster1.xml" Id="R8707d7c0e1a14b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8a66c1ed264451" /><Relationship Type="http://schemas.openxmlformats.org/officeDocument/2006/relationships/notesMaster" Target="/ppt/notesMasters/notesMaster1.xml" Id="R3183974325d44f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9659509d3f4ce2" /><Relationship Type="http://schemas.openxmlformats.org/officeDocument/2006/relationships/notesMaster" Target="/ppt/notesMasters/notesMaster1.xml" Id="R7df1ea032dcc43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88042e908c4d57" /><Relationship Type="http://schemas.openxmlformats.org/officeDocument/2006/relationships/notesMaster" Target="/ppt/notesMasters/notesMaster1.xml" Id="Re5ce59c463af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overview: https://github.com/NoeFlandre/osm-polygon-image-tag</a:t>
            </a:r>
          </a:p>
          <a:p xmlns:a="http://schemas.openxmlformats.org/drawingml/2006/main">
            <a:r>
              <a:t>Project asset: src/osm_polygon_image_tag/_data/hero.png</a:t>
            </a:r>
          </a:p>
          <a:p xmlns:a="http://schemas.openxmlformats.org/drawingml/2006/main">
            <a:r>
              <a:t>Visual conventions consulted read-only: https://github.com/NoeFlandre/slides-colloquium/blob/main/slides/talk.md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Current local snapshot: /Volumes/Seagate M3/projects/osm-polygon-image-tag/statistics/dataset-statistics.json (observed 2026-08-08 07:23 CEST).</a:t>
            </a:r>
          </a:p>
          <a:p xmlns:a="http://schemas.openxmlformats.org/drawingml/2006/main">
            <a:r>
              <a:t>Project README: https://github.com/NoeFlandre/osm-polygon-image-tag/blob/main/README.md</a:t>
            </a:r>
          </a:p>
          <a:p xmlns:a="http://schemas.openxmlformats.org/drawingml/2006/main">
            <a:r>
              <a:t>Data contract: https://github.com/NoeFlandre/osm-polygon-image-tag/blob/main/docs/data-contract.md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Narrative structure follows the one-idea-per-slide and section-break conventions in the read-only reference repository: https://github.com/NoeFlandre/slides-colloquium/blob/main/slides/talk.md</a:t>
            </a:r>
          </a:p>
          <a:p xmlns:a="http://schemas.openxmlformats.org/drawingml/2006/main">
            <a:r>
              <a:t>Project architecture: https://github.com/NoeFlandre/osm-polygon-image-tag/blob/main/docs/architecture.md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 contract: https://github.com/NoeFlandre/osm-polygon-image-tag/blob/main/docs/data-contract.md</a:t>
            </a:r>
          </a:p>
          <a:p xmlns:a="http://schemas.openxmlformats.org/drawingml/2006/main">
            <a:r>
              <a:t>The source PBF tree is read-only; extraction and tag selection are implemented under ingest/.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 contract: https://github.com/NoeFlandre/osm-polygon-image-tag/blob/main/docs/data-contract.md</a:t>
            </a:r>
          </a:p>
          <a:p xmlns:a="http://schemas.openxmlformats.org/drawingml/2006/main">
            <a:r>
              <a:t>The polygon and asset configurations are published as separate GeoParquet datasets and joined on OSM identity plus source_pbf.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 contract: https://github.com/NoeFlandre/osm-polygon-image-tag/blob/main/docs/data-contract.md</a:t>
            </a:r>
          </a:p>
          <a:p xmlns:a="http://schemas.openxmlformats.org/drawingml/2006/main">
            <a:r>
              <a:t>Operations: https://github.com/NoeFlandre/osm-polygon-image-tag/blob/main/docs/operations.md</a:t>
            </a:r>
          </a:p>
          <a:p xmlns:a="http://schemas.openxmlformats.org/drawingml/2006/main">
            <a:r>
              <a:t>Architecture: https://github.com/NoeFlandre/osm-polygon-image-tag/blob/main/docs/architecture.md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Map artifact: /Volumes/Seagate M3/projects/osm-polygon-image-tag/assets/geographic_polygon_density.png (read-only snapshot observed 2026-08-08 07:23 CEST).</a:t>
            </a:r>
          </a:p>
          <a:p xmlns:a="http://schemas.openxmlformats.org/drawingml/2006/main">
            <a:r>
              <a:t>Geography contract: https://github.com/NoeFlandre/osm-polygon-image-tag/blob/main/docs/data-contract.md#geographic-coverage-map</a:t>
            </a:r>
          </a:p>
          <a:p xmlns:a="http://schemas.openxmlformats.org/drawingml/2006/main">
            <a:r>
              <a:t>The map is generated from finalized polygon GeoParquet shards; image_assets rows are not separately counted.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README: https://github.com/NoeFlandre/osm-polygon-image-tag/blob/main/README.md</a:t>
            </a:r>
          </a:p>
          <a:p xmlns:a="http://schemas.openxmlformats.org/drawingml/2006/main">
            <a:r>
              <a:t>Dataset: https://huggingface.co/datasets/NoeFlandre/osm-polygon-image-tag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287ee7fb84c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e80cd01e9c41ee" /><Relationship Type="http://schemas.openxmlformats.org/officeDocument/2006/relationships/slideLayout" Target="/ppt/slideLayouts/slideLayout1.xml" Id="R24b24ee689e745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b24ee689e745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51756e78e4a1a" /><Relationship Type="http://schemas.openxmlformats.org/officeDocument/2006/relationships/image" Target="/ppt/media/image.png" Id="Rdc934ec1a9b74baf" /><Relationship Type="http://schemas.openxmlformats.org/officeDocument/2006/relationships/notesSlide" Target="/ppt/notesSlides/notesSlide1.xml" Id="R23681a01e6b248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7187a61ee43cd" /><Relationship Type="http://schemas.openxmlformats.org/officeDocument/2006/relationships/notesSlide" Target="/ppt/notesSlides/notesSlide2.xml" Id="R79648f51888d4f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06db668b84061" /><Relationship Type="http://schemas.openxmlformats.org/officeDocument/2006/relationships/notesSlide" Target="/ppt/notesSlides/notesSlide3.xml" Id="R552117a02bcd4a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5df13f08244b7" /><Relationship Type="http://schemas.openxmlformats.org/officeDocument/2006/relationships/notesSlide" Target="/ppt/notesSlides/notesSlide4.xml" Id="R9f6cc4accb5a49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a0156fc224be2" /><Relationship Type="http://schemas.openxmlformats.org/officeDocument/2006/relationships/notesSlide" Target="/ppt/notesSlides/notesSlide5.xml" Id="R18444be0f2aa45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2a814a705455f" /><Relationship Type="http://schemas.openxmlformats.org/officeDocument/2006/relationships/notesSlide" Target="/ppt/notesSlides/notesSlide6.xml" Id="R87ba72bdafe347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a2163c5604a73" /><Relationship Type="http://schemas.openxmlformats.org/officeDocument/2006/relationships/image" Target="/ppt/media/image2.png" Id="R9c5013fb90e54bf8" /><Relationship Type="http://schemas.openxmlformats.org/officeDocument/2006/relationships/notesSlide" Target="/ppt/notesSlides/notesSlide7.xml" Id="Rf456aa17c80e42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5f95978994a2d" /><Relationship Type="http://schemas.openxmlformats.org/officeDocument/2006/relationships/notesSlide" Target="/ppt/notesSlides/notesSlide8.xml" Id="R23bc2be7afdc42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sidebar">
            <a:extLst xmlns:a="http://schemas.openxmlformats.org/drawingml/2006/main">
              <a:ext uri="{FF2B5EF4-FFF2-40B4-BE49-F238E27FC236}">
                <a16:creationId xmlns:a16="http://schemas.microsoft.com/office/drawing/2014/main" id="{C59AD1B2-2FE4-4F2D-A2E2-466F13C2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34ec1a9b74baf"/>
          <a:srcRect xmlns:a="http://schemas.openxmlformats.org/drawingml/2006/main" l="0" t="2391" r="0" b="2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228600"/>
            <a:ext cx="4800600" cy="640080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3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B5DCDD4B-E86D-4341-9F4F-742ABDA6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1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RESEARCH DATASET · OSM + GEOSPATIAL MEDIA</a:t>
            </a:r>
          </a:p>
        </p:txBody>
      </p:sp>
      <p:sp>
        <p:nvSpPr>
          <p:cNvPr id="4" name="title-main">
            <a:extLst xmlns:a="http://schemas.openxmlformats.org/drawingml/2006/main">
              <a:ext uri="{FF2B5EF4-FFF2-40B4-BE49-F238E27FC236}">
                <a16:creationId xmlns:a16="http://schemas.microsoft.com/office/drawing/2014/main" id="{473F2815-AE19-40E6-91A2-FB3C5E3C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B1F45"/>
                </a:solidFill>
              </a:defRPr>
            </a:pPr>
            <a:r>
              <a:rPr sz="3600" b="1">
                <a:solidFill>
                  <a:srgbClr val="0B1F45"/>
                </a:solidFill>
              </a:rPr>
              <a:t>OSM polygons</a:t>
            </a:r>
          </a:p>
          <a:p xmlns:a="http://schemas.openxmlformats.org/drawingml/2006/main">
            <a:pPr>
              <a:buNone/>
              <a:defRPr sz="3600" b="1">
                <a:solidFill>
                  <a:srgbClr val="0B1F45"/>
                </a:solidFill>
              </a:defRPr>
            </a:pPr>
            <a:r>
              <a:rPr sz="3600" b="1">
                <a:solidFill>
                  <a:srgbClr val="0B1F45"/>
                </a:solidFill>
              </a:rPr>
              <a:t>with image references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21DB034-B2F9-4037-A6F9-0822C3E8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le-promise">
            <a:extLst xmlns:a="http://schemas.openxmlformats.org/drawingml/2006/main">
              <a:ext uri="{FF2B5EF4-FFF2-40B4-BE49-F238E27FC236}">
                <a16:creationId xmlns:a16="http://schemas.microsoft.com/office/drawing/2014/main" id="{170B0D00-6D41-4FDE-8F61-01C6E074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2627A"/>
                </a:solidFill>
              </a:defRPr>
            </a:pPr>
            <a:r>
              <a:rPr sz="1650">
                <a:solidFill>
                  <a:srgbClr val="52627A"/>
                </a:solidFill>
              </a:rPr>
              <a:t>A reproducible GeoParquet dataset of OpenStreetMap polygons carrying image references. Image bytes are not downloaded; each asset row keeps the source value, resolved URLs when available, and lookup status.</a:t>
            </a:r>
          </a:p>
        </p:txBody>
      </p:sp>
      <p:sp>
        <p:nvSpPr>
          <p:cNvPr id="7" name="title-author">
            <a:extLst xmlns:a="http://schemas.openxmlformats.org/drawingml/2006/main">
              <a:ext uri="{FF2B5EF4-FFF2-40B4-BE49-F238E27FC236}">
                <a16:creationId xmlns:a16="http://schemas.microsoft.com/office/drawing/2014/main" id="{CA4F07D0-E172-4912-8C9E-500AF991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</a:rPr>
              <a:t>Noé Flandre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929192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he research question-kicker">
            <a:extLst xmlns:a="http://schemas.openxmlformats.org/drawingml/2006/main">
              <a:ext uri="{FF2B5EF4-FFF2-40B4-BE49-F238E27FC236}">
                <a16:creationId xmlns:a16="http://schemas.microsoft.com/office/drawing/2014/main" id="{D2E3B1D5-C7FA-4697-BBF4-13D6A402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THE RESEARCH QUESTION</a:t>
            </a:r>
          </a:p>
        </p:txBody>
      </p:sp>
      <p:sp>
        <p:nvSpPr>
          <p:cNvPr id="2" name="The research question-title">
            <a:extLst xmlns:a="http://schemas.openxmlformats.org/drawingml/2006/main">
              <a:ext uri="{FF2B5EF4-FFF2-40B4-BE49-F238E27FC236}">
                <a16:creationId xmlns:a16="http://schemas.microsoft.com/office/drawing/2014/main" id="{EA77457C-D98E-48CE-A8F2-F2C19C3B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F45"/>
                </a:solidFill>
              </a:defRPr>
            </a:pPr>
            <a:r>
              <a:rPr sz="2700" b="1">
                <a:solidFill>
                  <a:srgbClr val="0B1F45"/>
                </a:solidFill>
              </a:rPr>
              <a:t>The dataset keeps the place with its image references</a:t>
            </a:r>
          </a:p>
        </p:txBody>
      </p:sp>
      <p:sp>
        <p:nvSpPr>
          <p:cNvPr id="3" name="The research question-subtitle">
            <a:extLst xmlns:a="http://schemas.openxmlformats.org/drawingml/2006/main">
              <a:ext uri="{FF2B5EF4-FFF2-40B4-BE49-F238E27FC236}">
                <a16:creationId xmlns:a16="http://schemas.microsoft.com/office/drawing/2014/main" id="{23BE7A7E-1595-4D60-8302-3498F76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An image tag is useful only when its OSM object, source value, and lookup result remain visible.</a:t>
            </a:r>
          </a:p>
        </p:txBody>
      </p:sp>
      <p:sp>
        <p:nvSpPr>
          <p:cNvPr id="4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C4767A04-AE7D-4222-A999-024668FF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polygons-value">
            <a:extLst xmlns:a="http://schemas.openxmlformats.org/drawingml/2006/main">
              <a:ext uri="{FF2B5EF4-FFF2-40B4-BE49-F238E27FC236}">
                <a16:creationId xmlns:a16="http://schemas.microsoft.com/office/drawing/2014/main" id="{6A6F5260-2244-4100-B602-C3B63A55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F6FED"/>
                </a:solidFill>
              </a:defRPr>
            </a:pPr>
            <a:r>
              <a:rPr sz="2700" b="1">
                <a:solidFill>
                  <a:srgbClr val="2F6FED"/>
                </a:solidFill>
              </a:rPr>
              <a:t>333,733</a:t>
            </a:r>
          </a:p>
        </p:txBody>
      </p:sp>
      <p:sp>
        <p:nvSpPr>
          <p:cNvPr id="6" name="metric-polygons-label">
            <a:extLst xmlns:a="http://schemas.openxmlformats.org/drawingml/2006/main">
              <a:ext uri="{FF2B5EF4-FFF2-40B4-BE49-F238E27FC236}">
                <a16:creationId xmlns:a16="http://schemas.microsoft.com/office/drawing/2014/main" id="{B772C5AA-8250-4101-93A3-9A20D842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polygon observations</a:t>
            </a:r>
          </a:p>
        </p:txBody>
      </p:sp>
      <p:sp>
        <p:nvSpPr>
          <p:cNvPr id="7" name="metric-assets-value">
            <a:extLst xmlns:a="http://schemas.openxmlformats.org/drawingml/2006/main">
              <a:ext uri="{FF2B5EF4-FFF2-40B4-BE49-F238E27FC236}">
                <a16:creationId xmlns:a16="http://schemas.microsoft.com/office/drawing/2014/main" id="{1C45FC1F-B3C4-40BF-9166-40E3E207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670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9476C"/>
                </a:solidFill>
              </a:defRPr>
            </a:pPr>
            <a:r>
              <a:rPr sz="2700" b="1">
                <a:solidFill>
                  <a:srgbClr val="E9476C"/>
                </a:solidFill>
              </a:rPr>
              <a:t>1.91M</a:t>
            </a:r>
          </a:p>
        </p:txBody>
      </p:sp>
      <p:sp>
        <p:nvSpPr>
          <p:cNvPr id="8" name="metric-assets-label">
            <a:extLst xmlns:a="http://schemas.openxmlformats.org/drawingml/2006/main">
              <a:ext uri="{FF2B5EF4-FFF2-40B4-BE49-F238E27FC236}">
                <a16:creationId xmlns:a16="http://schemas.microsoft.com/office/drawing/2014/main" id="{8E4D3D40-EECA-4009-B426-D170F965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image-reference rows</a:t>
            </a:r>
          </a:p>
        </p:txBody>
      </p:sp>
      <p:sp>
        <p:nvSpPr>
          <p:cNvPr id="9" name="metric-direct-value">
            <a:extLst xmlns:a="http://schemas.openxmlformats.org/drawingml/2006/main">
              <a:ext uri="{FF2B5EF4-FFF2-40B4-BE49-F238E27FC236}">
                <a16:creationId xmlns:a16="http://schemas.microsoft.com/office/drawing/2014/main" id="{1C7CCC9C-53E3-4CDB-9609-C88E0FE1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9946A"/>
                </a:solidFill>
              </a:defRPr>
            </a:pPr>
            <a:r>
              <a:rPr sz="2700" b="1">
                <a:solidFill>
                  <a:srgbClr val="19946A"/>
                </a:solidFill>
              </a:rPr>
              <a:t>95.1%</a:t>
            </a:r>
          </a:p>
        </p:txBody>
      </p:sp>
      <p:sp>
        <p:nvSpPr>
          <p:cNvPr id="10" name="metric-direct-label">
            <a:extLst xmlns:a="http://schemas.openxmlformats.org/drawingml/2006/main">
              <a:ext uri="{FF2B5EF4-FFF2-40B4-BE49-F238E27FC236}">
                <a16:creationId xmlns:a16="http://schemas.microsoft.com/office/drawing/2014/main" id="{AE371A3E-C4C7-4744-8511-054E840B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asset rows with direct URLs</a:t>
            </a:r>
          </a:p>
        </p:txBody>
      </p:sp>
      <p:sp>
        <p:nvSpPr>
          <p:cNvPr id="11" name="snapshot-note">
            <a:extLst xmlns:a="http://schemas.openxmlformats.org/drawingml/2006/main">
              <a:ext uri="{FF2B5EF4-FFF2-40B4-BE49-F238E27FC236}">
                <a16:creationId xmlns:a16="http://schemas.microsoft.com/office/drawing/2014/main" id="{1C889736-5E46-4EC0-A33E-40D0D2F4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22479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2" name="snapshot-note-title">
            <a:extLst xmlns:a="http://schemas.openxmlformats.org/drawingml/2006/main">
              <a:ext uri="{FF2B5EF4-FFF2-40B4-BE49-F238E27FC236}">
                <a16:creationId xmlns:a16="http://schemas.microsoft.com/office/drawing/2014/main" id="{6C81A966-73F1-4698-A6BA-0D7218BA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0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F45"/>
                </a:solidFill>
              </a:defRPr>
            </a:pPr>
            <a:r>
              <a:rPr sz="1275" b="1">
                <a:solidFill>
                  <a:srgbClr val="0B1F45"/>
                </a:solidFill>
              </a:rPr>
              <a:t>Current snapshot</a:t>
            </a:r>
          </a:p>
        </p:txBody>
      </p:sp>
      <p:sp>
        <p:nvSpPr>
          <p:cNvPr id="13" name="snapshot-note-body">
            <a:extLst xmlns:a="http://schemas.openxmlformats.org/drawingml/2006/main">
              <a:ext uri="{FF2B5EF4-FFF2-40B4-BE49-F238E27FC236}">
                <a16:creationId xmlns:a16="http://schemas.microsoft.com/office/drawing/2014/main" id="{17D5AF32-4FE3-4B83-AE81-C7C76652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1467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27A"/>
                </a:solidFill>
              </a:defRPr>
            </a:pPr>
            <a:r>
              <a:rPr sz="975">
                <a:solidFill>
                  <a:srgbClr val="52627A"/>
                </a:solidFill>
              </a:rPr>
              <a:t>Snapshot: 8 Aug 2026, 07:23 CEST. Counts grow as finalized shards are published.</a:t>
            </a:r>
          </a:p>
        </p:txBody>
      </p:sp>
      <p:sp>
        <p:nvSpPr>
          <p:cNvPr id="14" name="why-context-dot">
            <a:extLst xmlns:a="http://schemas.openxmlformats.org/drawingml/2006/main">
              <a:ext uri="{FF2B5EF4-FFF2-40B4-BE49-F238E27FC236}">
                <a16:creationId xmlns:a16="http://schemas.microsoft.com/office/drawing/2014/main" id="{4260B88C-45E1-4551-A5C8-C4FFF04F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5" name="why-context-label">
            <a:extLst xmlns:a="http://schemas.openxmlformats.org/drawingml/2006/main">
              <a:ext uri="{FF2B5EF4-FFF2-40B4-BE49-F238E27FC236}">
                <a16:creationId xmlns:a16="http://schemas.microsoft.com/office/drawing/2014/main" id="{F45FBB27-B5A1-4B71-A8DA-3187C2AB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The place stays attached</a:t>
            </a:r>
          </a:p>
        </p:txBody>
      </p:sp>
      <p:sp>
        <p:nvSpPr>
          <p:cNvPr id="16" name="why-context-body">
            <a:extLst xmlns:a="http://schemas.openxmlformats.org/drawingml/2006/main">
              <a:ext uri="{FF2B5EF4-FFF2-40B4-BE49-F238E27FC236}">
                <a16:creationId xmlns:a16="http://schemas.microsoft.com/office/drawing/2014/main" id="{C5AD1439-8D25-455F-B00B-1E6849AD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Every asset row joins back to an OSM way or relation and its source PBF.</a:t>
            </a:r>
          </a:p>
        </p:txBody>
      </p:sp>
      <p:sp>
        <p:nvSpPr>
          <p:cNvPr id="17" name="why-factual-dot">
            <a:extLst xmlns:a="http://schemas.openxmlformats.org/drawingml/2006/main">
              <a:ext uri="{FF2B5EF4-FFF2-40B4-BE49-F238E27FC236}">
                <a16:creationId xmlns:a16="http://schemas.microsoft.com/office/drawing/2014/main" id="{5735845F-A3B6-4261-B619-19A07BE3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476C"/>
          </a:solidFill>
          <a:ln xmlns:a="http://schemas.openxmlformats.org/drawingml/2006/main" w="0">
            <a:solidFill>
              <a:srgbClr val="E9476C"/>
            </a:solidFill>
            <a:prstDash val="solid"/>
          </a:ln>
        </p:spPr>
      </p:sp>
      <p:sp>
        <p:nvSpPr>
          <p:cNvPr id="18" name="why-factual-label">
            <a:extLst xmlns:a="http://schemas.openxmlformats.org/drawingml/2006/main">
              <a:ext uri="{FF2B5EF4-FFF2-40B4-BE49-F238E27FC236}">
                <a16:creationId xmlns:a16="http://schemas.microsoft.com/office/drawing/2014/main" id="{067903A1-35E7-4D36-88A8-29D8116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86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The lookup result stays visible</a:t>
            </a:r>
          </a:p>
        </p:txBody>
      </p:sp>
      <p:sp>
        <p:nvSpPr>
          <p:cNvPr id="19" name="why-factual-body">
            <a:extLst xmlns:a="http://schemas.openxmlformats.org/drawingml/2006/main">
              <a:ext uri="{FF2B5EF4-FFF2-40B4-BE49-F238E27FC236}">
                <a16:creationId xmlns:a16="http://schemas.microsoft.com/office/drawing/2014/main" id="{B2D405B7-1B6D-4BA9-A273-34EFC8F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Direct image, page-only, and failure statuses are recorded instead of guessed away.</a:t>
            </a:r>
          </a:p>
        </p:txBody>
      </p:sp>
      <p:sp>
        <p:nvSpPr>
          <p:cNvPr id="2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D799F23-2A29-4D23-8CF2-D08403AF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21E68240-A936-488D-A286-D61A2BA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4829A"/>
                </a:solidFill>
              </a:defRPr>
            </a:pPr>
            <a:r>
              <a:rPr sz="825" b="1">
                <a:solidFill>
                  <a:srgbClr val="74829A"/>
                </a:solidFill>
              </a:rPr>
              <a:t>OSM POLYGON IMAGE TAG · RESEARCH OVERVIEW</a:t>
            </a:r>
          </a:p>
        </p:txBody>
      </p:sp>
      <p:sp>
        <p:nvSpPr>
          <p:cNvPr id="22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3D093646-0758-45F5-A5D2-42D8E958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5151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4829A"/>
                </a:solidFill>
              </a:defRPr>
            </a:pPr>
            <a:r>
              <a:rPr sz="900" b="1">
                <a:solidFill>
                  <a:srgbClr val="74829A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1069002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8DE765CD-00E5-46B8-8662-D8C8C856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4BF22"/>
                </a:solidFill>
              </a:defRPr>
            </a:pPr>
            <a:r>
              <a:rPr sz="1200" b="1">
                <a:solidFill>
                  <a:srgbClr val="E4BF22"/>
                </a:solidFill>
              </a:rPr>
              <a:t>THE DESIGN CHOICE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663E29E-F8DE-4A86-A80A-60330029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Preserve raw OSM context.</a:t>
            </a:r>
          </a:p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Resolve references separately.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9FD56B1-5FA9-42B5-8F9E-DD048562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F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819910D9-F205-4A15-A035-46F7BFDA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D9E4F7"/>
                </a:solidFill>
              </a:defRPr>
            </a:pPr>
            <a:r>
              <a:rPr sz="1650">
                <a:solidFill>
                  <a:srgbClr val="D9E4F7"/>
                </a:solidFill>
              </a:rPr>
              <a:t>That separation keeps extraction, resolution, and publication auditable.</a:t>
            </a:r>
          </a:p>
        </p:txBody>
      </p:sp>
    </p:spTree>
    <p:extLst>
      <p:ext uri="{BB962C8B-B14F-4D97-AF65-F5344CB8AC3E}">
        <p14:creationId xmlns:p14="http://schemas.microsoft.com/office/powerpoint/2010/main" val="524811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xtraction-kicker">
            <a:extLst xmlns:a="http://schemas.openxmlformats.org/drawingml/2006/main">
              <a:ext uri="{FF2B5EF4-FFF2-40B4-BE49-F238E27FC236}">
                <a16:creationId xmlns:a16="http://schemas.microsoft.com/office/drawing/2014/main" id="{620277D5-A9B8-4914-A39E-7E380EA4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EXTRACTION</a:t>
            </a:r>
          </a:p>
        </p:txBody>
      </p:sp>
      <p:sp>
        <p:nvSpPr>
          <p:cNvPr id="2" name="Extraction-title">
            <a:extLst xmlns:a="http://schemas.openxmlformats.org/drawingml/2006/main">
              <a:ext uri="{FF2B5EF4-FFF2-40B4-BE49-F238E27FC236}">
                <a16:creationId xmlns:a16="http://schemas.microsoft.com/office/drawing/2014/main" id="{875C3A27-4281-4F4B-9F03-AEF79F15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F45"/>
                </a:solidFill>
              </a:defRPr>
            </a:pPr>
            <a:r>
              <a:rPr sz="2700" b="1">
                <a:solidFill>
                  <a:srgbClr val="0B1F45"/>
                </a:solidFill>
              </a:rPr>
              <a:t>We only keep polygonal OSM objects with image tags</a:t>
            </a:r>
          </a:p>
        </p:txBody>
      </p:sp>
      <p:sp>
        <p:nvSpPr>
          <p:cNvPr id="3" name="Extraction-subtitle">
            <a:extLst xmlns:a="http://schemas.openxmlformats.org/drawingml/2006/main">
              <a:ext uri="{FF2B5EF4-FFF2-40B4-BE49-F238E27FC236}">
                <a16:creationId xmlns:a16="http://schemas.microsoft.com/office/drawing/2014/main" id="{8C040D1F-A960-4786-9377-87E03FFA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The source PBFs are read-only; each finalized source file becomes one deterministic GeoParquet shard.</a:t>
            </a:r>
          </a:p>
        </p:txBody>
      </p:sp>
      <p:sp>
        <p:nvSpPr>
          <p:cNvPr id="4" name="stage-01-dot">
            <a:extLst xmlns:a="http://schemas.openxmlformats.org/drawingml/2006/main">
              <a:ext uri="{FF2B5EF4-FFF2-40B4-BE49-F238E27FC236}">
                <a16:creationId xmlns:a16="http://schemas.microsoft.com/office/drawing/2014/main" id="{99659FCB-2F8F-4F20-8C0A-0DB8FD0A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AA541A6-CBC1-4313-ABD6-44DEF89E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stage-01-label">
            <a:extLst xmlns:a="http://schemas.openxmlformats.org/drawingml/2006/main">
              <a:ext uri="{FF2B5EF4-FFF2-40B4-BE49-F238E27FC236}">
                <a16:creationId xmlns:a16="http://schemas.microsoft.com/office/drawing/2014/main" id="{EF40CEA5-41BD-4394-BFC2-A6F72DD8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Read-only PBFs</a:t>
            </a:r>
          </a:p>
        </p:txBody>
      </p:sp>
      <p:sp>
        <p:nvSpPr>
          <p:cNvPr id="7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CF4A2E06-C277-4FCA-B77D-D766F9E2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Geofabrik</a:t>
            </a:r>
          </a:p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source tree</a:t>
            </a:r>
          </a:p>
        </p:txBody>
      </p:sp>
      <p:sp>
        <p:nvSpPr>
          <p:cNvPr id="8" name="stage-01-arrow">
            <a:extLst xmlns:a="http://schemas.openxmlformats.org/drawingml/2006/main">
              <a:ext uri="{FF2B5EF4-FFF2-40B4-BE49-F238E27FC236}">
                <a16:creationId xmlns:a16="http://schemas.microsoft.com/office/drawing/2014/main" id="{63D2D116-92CF-4844-ABE1-796828BA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43225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solidFill>
              <a:srgbClr val="D7DFEC"/>
            </a:solidFill>
            <a:prstDash val="solid"/>
          </a:ln>
        </p:spPr>
      </p:sp>
      <p:sp>
        <p:nvSpPr>
          <p:cNvPr id="9" name="stage-02-dot">
            <a:extLst xmlns:a="http://schemas.openxmlformats.org/drawingml/2006/main">
              <a:ext uri="{FF2B5EF4-FFF2-40B4-BE49-F238E27FC236}">
                <a16:creationId xmlns:a16="http://schemas.microsoft.com/office/drawing/2014/main" id="{700BA972-2CA3-4082-A96F-3478CACB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F22"/>
          </a:solidFill>
          <a:ln xmlns:a="http://schemas.openxmlformats.org/drawingml/2006/main" w="0">
            <a:solidFill>
              <a:srgbClr val="E4BF22"/>
            </a:solidFill>
            <a:prstDash val="solid"/>
          </a:ln>
        </p:spPr>
      </p:sp>
      <p:sp>
        <p:nvSpPr>
          <p:cNvPr id="10" name="stage-02-number">
            <a:extLst xmlns:a="http://schemas.openxmlformats.org/drawingml/2006/main">
              <a:ext uri="{FF2B5EF4-FFF2-40B4-BE49-F238E27FC236}">
                <a16:creationId xmlns:a16="http://schemas.microsoft.com/office/drawing/2014/main" id="{40452768-DE0F-4CF6-8BF5-F5FD0FAE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stage-02-label">
            <a:extLst xmlns:a="http://schemas.openxmlformats.org/drawingml/2006/main">
              <a:ext uri="{FF2B5EF4-FFF2-40B4-BE49-F238E27FC236}">
                <a16:creationId xmlns:a16="http://schemas.microsoft.com/office/drawing/2014/main" id="{ABA555CD-BAB2-4B86-B256-0ECE0092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Filter geometry</a:t>
            </a:r>
          </a:p>
        </p:txBody>
      </p:sp>
      <p:sp>
        <p:nvSpPr>
          <p:cNvPr id="12" name="stage-02-body">
            <a:extLst xmlns:a="http://schemas.openxmlformats.org/drawingml/2006/main">
              <a:ext uri="{FF2B5EF4-FFF2-40B4-BE49-F238E27FC236}">
                <a16:creationId xmlns:a16="http://schemas.microsoft.com/office/drawing/2014/main" id="{D0C1D9A5-D857-41A8-A581-AEA36BF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48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closed ways +</a:t>
            </a:r>
          </a:p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relations</a:t>
            </a:r>
          </a:p>
        </p:txBody>
      </p:sp>
      <p:sp>
        <p:nvSpPr>
          <p:cNvPr id="13" name="stage-02-arrow">
            <a:extLst xmlns:a="http://schemas.openxmlformats.org/drawingml/2006/main">
              <a:ext uri="{FF2B5EF4-FFF2-40B4-BE49-F238E27FC236}">
                <a16:creationId xmlns:a16="http://schemas.microsoft.com/office/drawing/2014/main" id="{6EF7C15B-8C78-4B06-9374-499B70C8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43225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solidFill>
              <a:srgbClr val="D7DFEC"/>
            </a:solidFill>
            <a:prstDash val="solid"/>
          </a:ln>
        </p:spPr>
      </p:sp>
      <p:sp>
        <p:nvSpPr>
          <p:cNvPr id="14" name="stage-03-dot">
            <a:extLst xmlns:a="http://schemas.openxmlformats.org/drawingml/2006/main">
              <a:ext uri="{FF2B5EF4-FFF2-40B4-BE49-F238E27FC236}">
                <a16:creationId xmlns:a16="http://schemas.microsoft.com/office/drawing/2014/main" id="{0B2DB559-3DC3-40F5-9CF2-ECDE4F2D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476C"/>
          </a:solidFill>
          <a:ln xmlns:a="http://schemas.openxmlformats.org/drawingml/2006/main" w="0">
            <a:solidFill>
              <a:srgbClr val="E9476C"/>
            </a:solidFill>
            <a:prstDash val="solid"/>
          </a:ln>
        </p:spPr>
      </p:sp>
      <p:sp>
        <p:nvSpPr>
          <p:cNvPr id="15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8937A919-8262-4719-AD2D-9DC5EE91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stage-03-label">
            <a:extLst xmlns:a="http://schemas.openxmlformats.org/drawingml/2006/main">
              <a:ext uri="{FF2B5EF4-FFF2-40B4-BE49-F238E27FC236}">
                <a16:creationId xmlns:a16="http://schemas.microsoft.com/office/drawing/2014/main" id="{814E5C20-50F5-401A-BF3B-4CAD701F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Select tags</a:t>
            </a:r>
          </a:p>
        </p:txBody>
      </p:sp>
      <p:sp>
        <p:nvSpPr>
          <p:cNvPr id="17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5D346FCD-DA29-45B9-979C-62789FA1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image, Commons,</a:t>
            </a:r>
          </a:p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Mapillary, Panoramax…</a:t>
            </a:r>
          </a:p>
        </p:txBody>
      </p:sp>
      <p:sp>
        <p:nvSpPr>
          <p:cNvPr id="18" name="stage-03-arrow">
            <a:extLst xmlns:a="http://schemas.openxmlformats.org/drawingml/2006/main">
              <a:ext uri="{FF2B5EF4-FFF2-40B4-BE49-F238E27FC236}">
                <a16:creationId xmlns:a16="http://schemas.microsoft.com/office/drawing/2014/main" id="{32C77F5C-4341-4741-85B2-F2938BC0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43225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solidFill>
              <a:srgbClr val="D7DFEC"/>
            </a:solidFill>
            <a:prstDash val="solid"/>
          </a:ln>
        </p:spPr>
      </p:sp>
      <p:sp>
        <p:nvSpPr>
          <p:cNvPr id="19" name="stage-04-dot">
            <a:extLst xmlns:a="http://schemas.openxmlformats.org/drawingml/2006/main">
              <a:ext uri="{FF2B5EF4-FFF2-40B4-BE49-F238E27FC236}">
                <a16:creationId xmlns:a16="http://schemas.microsoft.com/office/drawing/2014/main" id="{30FD9C2E-D036-4179-A19E-E0557655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946A"/>
          </a:solidFill>
          <a:ln xmlns:a="http://schemas.openxmlformats.org/drawingml/2006/main" w="0">
            <a:solidFill>
              <a:srgbClr val="19946A"/>
            </a:solidFill>
            <a:prstDash val="solid"/>
          </a:ln>
        </p:spPr>
      </p:sp>
      <p:sp>
        <p:nvSpPr>
          <p:cNvPr id="20" name="stage-04-number">
            <a:extLst xmlns:a="http://schemas.openxmlformats.org/drawingml/2006/main">
              <a:ext uri="{FF2B5EF4-FFF2-40B4-BE49-F238E27FC236}">
                <a16:creationId xmlns:a16="http://schemas.microsoft.com/office/drawing/2014/main" id="{6E7E54BA-63C9-48BB-9DE4-1F31B6FC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stage-04-label">
            <a:extLst xmlns:a="http://schemas.openxmlformats.org/drawingml/2006/main">
              <a:ext uri="{FF2B5EF4-FFF2-40B4-BE49-F238E27FC236}">
                <a16:creationId xmlns:a16="http://schemas.microsoft.com/office/drawing/2014/main" id="{DCAA5FF6-A28C-45D1-A0AA-14432230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Write shards</a:t>
            </a:r>
          </a:p>
        </p:txBody>
      </p:sp>
      <p:sp>
        <p:nvSpPr>
          <p:cNvPr id="22" name="stage-04-body">
            <a:extLst xmlns:a="http://schemas.openxmlformats.org/drawingml/2006/main">
              <a:ext uri="{FF2B5EF4-FFF2-40B4-BE49-F238E27FC236}">
                <a16:creationId xmlns:a16="http://schemas.microsoft.com/office/drawing/2014/main" id="{CE705CBF-279B-4596-8139-19131302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48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GeoParquet +</a:t>
            </a:r>
          </a:p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manifest</a:t>
            </a:r>
          </a:p>
        </p:txBody>
      </p:sp>
      <p:sp>
        <p:nvSpPr>
          <p:cNvPr id="23" name="tag-rule">
            <a:extLst xmlns:a="http://schemas.openxmlformats.org/drawingml/2006/main">
              <a:ext uri="{FF2B5EF4-FFF2-40B4-BE49-F238E27FC236}">
                <a16:creationId xmlns:a16="http://schemas.microsoft.com/office/drawing/2014/main" id="{86109599-8634-4048-8B73-9C384672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g-title">
            <a:extLst xmlns:a="http://schemas.openxmlformats.org/drawingml/2006/main">
              <a:ext uri="{FF2B5EF4-FFF2-40B4-BE49-F238E27FC236}">
                <a16:creationId xmlns:a16="http://schemas.microsoft.com/office/drawing/2014/main" id="{A7539FB7-2F40-4191-BB18-3B8BC68A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B1F45"/>
                </a:solidFill>
              </a:defRPr>
            </a:pPr>
            <a:r>
              <a:rPr sz="1200" b="1">
                <a:solidFill>
                  <a:srgbClr val="0B1F45"/>
                </a:solidFill>
              </a:rPr>
              <a:t>Selected reference families</a:t>
            </a:r>
          </a:p>
        </p:txBody>
      </p:sp>
      <p:sp>
        <p:nvSpPr>
          <p:cNvPr id="25" name="tag-list">
            <a:extLst xmlns:a="http://schemas.openxmlformats.org/drawingml/2006/main">
              <a:ext uri="{FF2B5EF4-FFF2-40B4-BE49-F238E27FC236}">
                <a16:creationId xmlns:a16="http://schemas.microsoft.com/office/drawing/2014/main" id="{50BDAE36-F378-4DB5-954D-6DE219D2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image · wikimedia_commons · mapillary · panoramax · kartaview · flickr · bubbleid (Bing Streetside)</a:t>
            </a:r>
          </a:p>
        </p:txBody>
      </p:sp>
      <p:sp>
        <p:nvSpPr>
          <p:cNvPr id="26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AB3DFB37-6901-4209-BB26-45FC8FC4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3F6F4D52-1E2B-4477-8598-5908CC86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4829A"/>
                </a:solidFill>
              </a:defRPr>
            </a:pPr>
            <a:r>
              <a:rPr sz="825" b="1">
                <a:solidFill>
                  <a:srgbClr val="74829A"/>
                </a:solidFill>
              </a:rPr>
              <a:t>OSM POLYGON IMAGE TAG · RESEARCH OVERVIEW</a:t>
            </a:r>
          </a:p>
        </p:txBody>
      </p:sp>
      <p:sp>
        <p:nvSpPr>
          <p:cNvPr id="28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15D40645-31C0-4923-817C-CB7A0483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5151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4829A"/>
                </a:solidFill>
              </a:defRPr>
            </a:pPr>
            <a:r>
              <a:rPr sz="900" b="1">
                <a:solidFill>
                  <a:srgbClr val="74829A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655931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Data model-kicker">
            <a:extLst xmlns:a="http://schemas.openxmlformats.org/drawingml/2006/main">
              <a:ext uri="{FF2B5EF4-FFF2-40B4-BE49-F238E27FC236}">
                <a16:creationId xmlns:a16="http://schemas.microsoft.com/office/drawing/2014/main" id="{19D15A05-20A2-4725-9BE8-32CF7BF8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DATA MODEL</a:t>
            </a:r>
          </a:p>
        </p:txBody>
      </p:sp>
      <p:sp>
        <p:nvSpPr>
          <p:cNvPr id="2" name="Data model-title">
            <a:extLst xmlns:a="http://schemas.openxmlformats.org/drawingml/2006/main">
              <a:ext uri="{FF2B5EF4-FFF2-40B4-BE49-F238E27FC236}">
                <a16:creationId xmlns:a16="http://schemas.microsoft.com/office/drawing/2014/main" id="{F3FB3537-3982-48F2-ABE4-D4ED2784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F45"/>
                </a:solidFill>
              </a:defRPr>
            </a:pPr>
            <a:r>
              <a:rPr sz="2700" b="1">
                <a:solidFill>
                  <a:srgbClr val="0B1F45"/>
                </a:solidFill>
              </a:rPr>
              <a:t>The two tables answer different questions</a:t>
            </a:r>
          </a:p>
        </p:txBody>
      </p:sp>
      <p:sp>
        <p:nvSpPr>
          <p:cNvPr id="3" name="Data model-subtitle">
            <a:extLst xmlns:a="http://schemas.openxmlformats.org/drawingml/2006/main">
              <a:ext uri="{FF2B5EF4-FFF2-40B4-BE49-F238E27FC236}">
                <a16:creationId xmlns:a16="http://schemas.microsoft.com/office/drawing/2014/main" id="{7AC7732F-7FFB-4090-B21D-679D498A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One describes the OSM object. The other describes each image reference found on it.</a:t>
            </a:r>
          </a:p>
        </p:txBody>
      </p:sp>
      <p:sp>
        <p:nvSpPr>
          <p:cNvPr id="4" name="poly-heading">
            <a:extLst xmlns:a="http://schemas.openxmlformats.org/drawingml/2006/main">
              <a:ext uri="{FF2B5EF4-FFF2-40B4-BE49-F238E27FC236}">
                <a16:creationId xmlns:a16="http://schemas.microsoft.com/office/drawing/2014/main" id="{F790A692-E4E4-4735-BC91-B2CBD95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F6FED"/>
                </a:solidFill>
              </a:defRPr>
            </a:pPr>
            <a:r>
              <a:rPr sz="1950" b="1">
                <a:solidFill>
                  <a:srgbClr val="2F6FED"/>
                </a:solidFill>
              </a:rPr>
              <a:t>polygons</a:t>
            </a:r>
          </a:p>
        </p:txBody>
      </p:sp>
      <p:sp>
        <p:nvSpPr>
          <p:cNvPr id="5" name="asset-heading">
            <a:extLst xmlns:a="http://schemas.openxmlformats.org/drawingml/2006/main">
              <a:ext uri="{FF2B5EF4-FFF2-40B4-BE49-F238E27FC236}">
                <a16:creationId xmlns:a16="http://schemas.microsoft.com/office/drawing/2014/main" id="{4A4809D1-309B-44A8-80AF-9986710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9476C"/>
                </a:solidFill>
              </a:defRPr>
            </a:pPr>
            <a:r>
              <a:rPr sz="1950" b="1">
                <a:solidFill>
                  <a:srgbClr val="E9476C"/>
                </a:solidFill>
              </a:rPr>
              <a:t>image_assets</a:t>
            </a:r>
          </a:p>
        </p:txBody>
      </p:sp>
      <p:sp>
        <p:nvSpPr>
          <p:cNvPr id="6" name="poly-geometry-bg">
            <a:extLst xmlns:a="http://schemas.openxmlformats.org/drawingml/2006/main">
              <a:ext uri="{FF2B5EF4-FFF2-40B4-BE49-F238E27FC236}">
                <a16:creationId xmlns:a16="http://schemas.microsoft.com/office/drawing/2014/main" id="{4A230FD4-8A3C-4733-99D1-B9D266CB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sp>
        <p:nvSpPr>
          <p:cNvPr id="7" name="poly-geometry-left">
            <a:extLst xmlns:a="http://schemas.openxmlformats.org/drawingml/2006/main">
              <a:ext uri="{FF2B5EF4-FFF2-40B4-BE49-F238E27FC236}">
                <a16:creationId xmlns:a16="http://schemas.microsoft.com/office/drawing/2014/main" id="{4D3C1D30-00CE-4FD0-9B4F-FE46C683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6FED"/>
                </a:solidFill>
              </a:defRPr>
            </a:pPr>
            <a:r>
              <a:rPr sz="1200" b="1">
                <a:solidFill>
                  <a:srgbClr val="2F6FED"/>
                </a:solidFill>
              </a:rPr>
              <a:t>geometry</a:t>
            </a:r>
          </a:p>
        </p:txBody>
      </p:sp>
      <p:sp>
        <p:nvSpPr>
          <p:cNvPr id="8" name="poly-geometry-right">
            <a:extLst xmlns:a="http://schemas.openxmlformats.org/drawingml/2006/main">
              <a:ext uri="{FF2B5EF4-FFF2-40B4-BE49-F238E27FC236}">
                <a16:creationId xmlns:a16="http://schemas.microsoft.com/office/drawing/2014/main" id="{F9DDEDB4-CA1F-4266-AD7A-14862289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Polygon or MultiPolygon</a:t>
            </a:r>
          </a:p>
        </p:txBody>
      </p:sp>
      <p:sp>
        <p:nvSpPr>
          <p:cNvPr id="9" name="poly-tags-bg">
            <a:extLst xmlns:a="http://schemas.openxmlformats.org/drawingml/2006/main">
              <a:ext uri="{FF2B5EF4-FFF2-40B4-BE49-F238E27FC236}">
                <a16:creationId xmlns:a16="http://schemas.microsoft.com/office/drawing/2014/main" id="{98055AE3-09A3-4A77-AA86-C59AC3C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sp>
        <p:nvSpPr>
          <p:cNvPr id="10" name="poly-tags-left">
            <a:extLst xmlns:a="http://schemas.openxmlformats.org/drawingml/2006/main">
              <a:ext uri="{FF2B5EF4-FFF2-40B4-BE49-F238E27FC236}">
                <a16:creationId xmlns:a16="http://schemas.microsoft.com/office/drawing/2014/main" id="{9DAA0090-05A2-44DA-B4C4-26783B2F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6FED"/>
                </a:solidFill>
              </a:defRPr>
            </a:pPr>
            <a:r>
              <a:rPr sz="1200" b="1">
                <a:solidFill>
                  <a:srgbClr val="2F6FED"/>
                </a:solidFill>
              </a:rPr>
              <a:t>tags</a:t>
            </a:r>
          </a:p>
        </p:txBody>
      </p:sp>
      <p:sp>
        <p:nvSpPr>
          <p:cNvPr id="11" name="poly-tags-right">
            <a:extLst xmlns:a="http://schemas.openxmlformats.org/drawingml/2006/main">
              <a:ext uri="{FF2B5EF4-FFF2-40B4-BE49-F238E27FC236}">
                <a16:creationId xmlns:a16="http://schemas.microsoft.com/office/drawing/2014/main" id="{0BCF7E64-ADC5-4CD6-B0B0-559DA21A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766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every original OSM tag</a:t>
            </a:r>
          </a:p>
        </p:txBody>
      </p:sp>
      <p:sp>
        <p:nvSpPr>
          <p:cNvPr id="12" name="poly-area-bg">
            <a:extLst xmlns:a="http://schemas.openxmlformats.org/drawingml/2006/main">
              <a:ext uri="{FF2B5EF4-FFF2-40B4-BE49-F238E27FC236}">
                <a16:creationId xmlns:a16="http://schemas.microsoft.com/office/drawing/2014/main" id="{01DC279A-F3C9-4FC1-AC8E-7B9EB343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sp>
        <p:nvSpPr>
          <p:cNvPr id="13" name="poly-area-left">
            <a:extLst xmlns:a="http://schemas.openxmlformats.org/drawingml/2006/main">
              <a:ext uri="{FF2B5EF4-FFF2-40B4-BE49-F238E27FC236}">
                <a16:creationId xmlns:a16="http://schemas.microsoft.com/office/drawing/2014/main" id="{9767AB65-E69B-4896-9D48-FB6BC956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6FED"/>
                </a:solidFill>
              </a:defRPr>
            </a:pPr>
            <a:r>
              <a:rPr sz="1200" b="1">
                <a:solidFill>
                  <a:srgbClr val="2F6FED"/>
                </a:solidFill>
              </a:rPr>
              <a:t>area_m2</a:t>
            </a:r>
          </a:p>
        </p:txBody>
      </p:sp>
      <p:sp>
        <p:nvSpPr>
          <p:cNvPr id="14" name="poly-area-right">
            <a:extLst xmlns:a="http://schemas.openxmlformats.org/drawingml/2006/main">
              <a:ext uri="{FF2B5EF4-FFF2-40B4-BE49-F238E27FC236}">
                <a16:creationId xmlns:a16="http://schemas.microsoft.com/office/drawing/2014/main" id="{29E494D3-5E48-4AB4-B7F3-2990F88F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100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geodesic area + bbox_*</a:t>
            </a:r>
          </a:p>
        </p:txBody>
      </p:sp>
      <p:sp>
        <p:nvSpPr>
          <p:cNvPr id="15" name="poly-source-bg">
            <a:extLst xmlns:a="http://schemas.openxmlformats.org/drawingml/2006/main">
              <a:ext uri="{FF2B5EF4-FFF2-40B4-BE49-F238E27FC236}">
                <a16:creationId xmlns:a16="http://schemas.microsoft.com/office/drawing/2014/main" id="{7F7C8338-BB00-460F-9943-26E27D65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sp>
        <p:nvSpPr>
          <p:cNvPr id="16" name="poly-source-left">
            <a:extLst xmlns:a="http://schemas.openxmlformats.org/drawingml/2006/main">
              <a:ext uri="{FF2B5EF4-FFF2-40B4-BE49-F238E27FC236}">
                <a16:creationId xmlns:a16="http://schemas.microsoft.com/office/drawing/2014/main" id="{9115CC5C-9289-445E-B51F-421C290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6FED"/>
                </a:solidFill>
              </a:defRPr>
            </a:pPr>
            <a:r>
              <a:rPr sz="1200" b="1">
                <a:solidFill>
                  <a:srgbClr val="2F6FED"/>
                </a:solidFill>
              </a:rPr>
              <a:t>source_pbf</a:t>
            </a:r>
          </a:p>
        </p:txBody>
      </p:sp>
      <p:sp>
        <p:nvSpPr>
          <p:cNvPr id="17" name="poly-source-right">
            <a:extLst xmlns:a="http://schemas.openxmlformats.org/drawingml/2006/main">
              <a:ext uri="{FF2B5EF4-FFF2-40B4-BE49-F238E27FC236}">
                <a16:creationId xmlns:a16="http://schemas.microsoft.com/office/drawing/2014/main" id="{7695CC4C-1184-4722-A152-49061B63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434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stable input provenance</a:t>
            </a:r>
          </a:p>
        </p:txBody>
      </p:sp>
      <p:sp>
        <p:nvSpPr>
          <p:cNvPr id="18" name="asset-reference-bg">
            <a:extLst xmlns:a="http://schemas.openxmlformats.org/drawingml/2006/main">
              <a:ext uri="{FF2B5EF4-FFF2-40B4-BE49-F238E27FC236}">
                <a16:creationId xmlns:a16="http://schemas.microsoft.com/office/drawing/2014/main" id="{F5957327-FE41-4A96-89E1-886A37E5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EAF0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sp>
        <p:nvSpPr>
          <p:cNvPr id="19" name="asset-reference-left">
            <a:extLst xmlns:a="http://schemas.openxmlformats.org/drawingml/2006/main">
              <a:ext uri="{FF2B5EF4-FFF2-40B4-BE49-F238E27FC236}">
                <a16:creationId xmlns:a16="http://schemas.microsoft.com/office/drawing/2014/main" id="{5DE5CB10-8E6E-4BF9-9FBB-027BA80C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9476C"/>
                </a:solidFill>
              </a:defRPr>
            </a:pPr>
            <a:r>
              <a:rPr sz="1200" b="1">
                <a:solidFill>
                  <a:srgbClr val="E9476C"/>
                </a:solidFill>
              </a:rPr>
              <a:t>source_tag_key/value</a:t>
            </a:r>
          </a:p>
        </p:txBody>
      </p:sp>
      <p:sp>
        <p:nvSpPr>
          <p:cNvPr id="20" name="asset-reference-right">
            <a:extLst xmlns:a="http://schemas.openxmlformats.org/drawingml/2006/main">
              <a:ext uri="{FF2B5EF4-FFF2-40B4-BE49-F238E27FC236}">
                <a16:creationId xmlns:a16="http://schemas.microsoft.com/office/drawing/2014/main" id="{C1AA714D-9A7B-4C11-AE72-89FCA5F7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exact value + provider</a:t>
            </a:r>
          </a:p>
        </p:txBody>
      </p:sp>
      <p:sp>
        <p:nvSpPr>
          <p:cNvPr id="21" name="asset-urls-bg">
            <a:extLst xmlns:a="http://schemas.openxmlformats.org/drawingml/2006/main">
              <a:ext uri="{FF2B5EF4-FFF2-40B4-BE49-F238E27FC236}">
                <a16:creationId xmlns:a16="http://schemas.microsoft.com/office/drawing/2014/main" id="{3AC63FAF-A72B-4813-87C9-7DEDCDC0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sp>
        <p:nvSpPr>
          <p:cNvPr id="22" name="asset-urls-left">
            <a:extLst xmlns:a="http://schemas.openxmlformats.org/drawingml/2006/main">
              <a:ext uri="{FF2B5EF4-FFF2-40B4-BE49-F238E27FC236}">
                <a16:creationId xmlns:a16="http://schemas.microsoft.com/office/drawing/2014/main" id="{D3E621B4-BAE3-4E8A-9B67-A856BE72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9476C"/>
                </a:solidFill>
              </a:defRPr>
            </a:pPr>
            <a:r>
              <a:rPr sz="1200" b="1">
                <a:solidFill>
                  <a:srgbClr val="E9476C"/>
                </a:solidFill>
              </a:rPr>
              <a:t>page_url / image_url</a:t>
            </a:r>
          </a:p>
        </p:txBody>
      </p:sp>
      <p:sp>
        <p:nvSpPr>
          <p:cNvPr id="23" name="asset-urls-right">
            <a:extLst xmlns:a="http://schemas.openxmlformats.org/drawingml/2006/main">
              <a:ext uri="{FF2B5EF4-FFF2-40B4-BE49-F238E27FC236}">
                <a16:creationId xmlns:a16="http://schemas.microsoft.com/office/drawing/2014/main" id="{D9339B3B-C20B-4119-8C4D-6E3A045F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thumbnail when available</a:t>
            </a:r>
          </a:p>
        </p:txBody>
      </p:sp>
      <p:sp>
        <p:nvSpPr>
          <p:cNvPr id="24" name="asset-status-bg">
            <a:extLst xmlns:a="http://schemas.openxmlformats.org/drawingml/2006/main">
              <a:ext uri="{FF2B5EF4-FFF2-40B4-BE49-F238E27FC236}">
                <a16:creationId xmlns:a16="http://schemas.microsoft.com/office/drawing/2014/main" id="{3051CF14-6D83-4FD3-856D-9284551F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sp>
        <p:nvSpPr>
          <p:cNvPr id="25" name="asset-status-left">
            <a:extLst xmlns:a="http://schemas.openxmlformats.org/drawingml/2006/main">
              <a:ext uri="{FF2B5EF4-FFF2-40B4-BE49-F238E27FC236}">
                <a16:creationId xmlns:a16="http://schemas.microsoft.com/office/drawing/2014/main" id="{F480A142-FDA8-401A-96E2-1F46AFD9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10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9476C"/>
                </a:solidFill>
              </a:defRPr>
            </a:pPr>
            <a:r>
              <a:rPr sz="1200" b="1">
                <a:solidFill>
                  <a:srgbClr val="E9476C"/>
                </a:solidFill>
              </a:rPr>
              <a:t>status + reason</a:t>
            </a:r>
          </a:p>
        </p:txBody>
      </p:sp>
      <p:sp>
        <p:nvSpPr>
          <p:cNvPr id="26" name="asset-status-right">
            <a:extLst xmlns:a="http://schemas.openxmlformats.org/drawingml/2006/main">
              <a:ext uri="{FF2B5EF4-FFF2-40B4-BE49-F238E27FC236}">
                <a16:creationId xmlns:a16="http://schemas.microsoft.com/office/drawing/2014/main" id="{36835AF1-318C-4867-856C-F7B7423D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outcome recorded per row</a:t>
            </a:r>
          </a:p>
        </p:txBody>
      </p:sp>
      <p:sp>
        <p:nvSpPr>
          <p:cNvPr id="27" name="asset-join-bg">
            <a:extLst xmlns:a="http://schemas.openxmlformats.org/drawingml/2006/main">
              <a:ext uri="{FF2B5EF4-FFF2-40B4-BE49-F238E27FC236}">
                <a16:creationId xmlns:a16="http://schemas.microsoft.com/office/drawing/2014/main" id="{263FEAF5-B663-4482-807B-614D28E9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sp>
        <p:nvSpPr>
          <p:cNvPr id="28" name="asset-join-left">
            <a:extLst xmlns:a="http://schemas.openxmlformats.org/drawingml/2006/main">
              <a:ext uri="{FF2B5EF4-FFF2-40B4-BE49-F238E27FC236}">
                <a16:creationId xmlns:a16="http://schemas.microsoft.com/office/drawing/2014/main" id="{AA8C7910-5103-42AB-8E6D-733B8750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9476C"/>
                </a:solidFill>
              </a:defRPr>
            </a:pPr>
            <a:r>
              <a:rPr sz="1200" b="1">
                <a:solidFill>
                  <a:srgbClr val="E9476C"/>
                </a:solidFill>
              </a:rPr>
              <a:t>join key</a:t>
            </a:r>
          </a:p>
        </p:txBody>
      </p:sp>
      <p:sp>
        <p:nvSpPr>
          <p:cNvPr id="29" name="asset-join-right">
            <a:extLst xmlns:a="http://schemas.openxmlformats.org/drawingml/2006/main">
              <a:ext uri="{FF2B5EF4-FFF2-40B4-BE49-F238E27FC236}">
                <a16:creationId xmlns:a16="http://schemas.microsoft.com/office/drawing/2014/main" id="{339535C7-1A44-4435-AB75-78B9C82C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OSM identity + source PBF</a:t>
            </a:r>
          </a:p>
        </p:txBody>
      </p:sp>
      <p:sp>
        <p:nvSpPr>
          <p:cNvPr id="30" name="join-rule">
            <a:extLst xmlns:a="http://schemas.openxmlformats.org/drawingml/2006/main">
              <a:ext uri="{FF2B5EF4-FFF2-40B4-BE49-F238E27FC236}">
                <a16:creationId xmlns:a16="http://schemas.microsoft.com/office/drawing/2014/main" id="{A2F25FC0-0598-43E5-B524-6C36A095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95650"/>
            <a:ext cx="19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F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join-label">
            <a:extLst xmlns:a="http://schemas.openxmlformats.org/drawingml/2006/main">
              <a:ext uri="{FF2B5EF4-FFF2-40B4-BE49-F238E27FC236}">
                <a16:creationId xmlns:a16="http://schemas.microsoft.com/office/drawing/2014/main" id="{0777A52D-0697-4C67-9DD2-FCF1B449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720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4BF22"/>
                </a:solidFill>
              </a:defRPr>
            </a:pPr>
            <a:r>
              <a:rPr sz="1050" b="1">
                <a:solidFill>
                  <a:srgbClr val="E4BF22"/>
                </a:solidFill>
              </a:rPr>
              <a:t>join</a:t>
            </a:r>
          </a:p>
        </p:txBody>
      </p:sp>
      <p:sp>
        <p:nvSpPr>
          <p:cNvPr id="3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3165A177-43EF-4909-B2D5-8561C5F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796B90DE-CB10-4FCF-B01A-CDBD82CF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4829A"/>
                </a:solidFill>
              </a:defRPr>
            </a:pPr>
            <a:r>
              <a:rPr sz="825" b="1">
                <a:solidFill>
                  <a:srgbClr val="74829A"/>
                </a:solidFill>
              </a:rPr>
              <a:t>OSM POLYGON IMAGE TAG · RESEARCH OVERVIEW</a:t>
            </a:r>
          </a:p>
        </p:txBody>
      </p:sp>
      <p:sp>
        <p:nvSpPr>
          <p:cNvPr id="34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B4674BF9-908A-482C-B42C-3B51E0E1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5151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4829A"/>
                </a:solidFill>
              </a:defRPr>
            </a:pPr>
            <a:r>
              <a:rPr sz="900" b="1">
                <a:solidFill>
                  <a:srgbClr val="74829A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439403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solution and operations-kicker">
            <a:extLst xmlns:a="http://schemas.openxmlformats.org/drawingml/2006/main">
              <a:ext uri="{FF2B5EF4-FFF2-40B4-BE49-F238E27FC236}">
                <a16:creationId xmlns:a16="http://schemas.microsoft.com/office/drawing/2014/main" id="{C30BCDA2-C402-45A9-9765-B74D112A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RESOLUTION AND OPERATIONS</a:t>
            </a:r>
          </a:p>
        </p:txBody>
      </p:sp>
      <p:sp>
        <p:nvSpPr>
          <p:cNvPr id="2" name="Resolution and operations-title">
            <a:extLst xmlns:a="http://schemas.openxmlformats.org/drawingml/2006/main">
              <a:ext uri="{FF2B5EF4-FFF2-40B4-BE49-F238E27FC236}">
                <a16:creationId xmlns:a16="http://schemas.microsoft.com/office/drawing/2014/main" id="{F25B3EE6-11C5-469E-BC69-E5FEC99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F45"/>
                </a:solidFill>
              </a:defRPr>
            </a:pPr>
            <a:r>
              <a:rPr sz="2700" b="1">
                <a:solidFill>
                  <a:srgbClr val="0B1F45"/>
                </a:solidFill>
              </a:rPr>
              <a:t>A failed lookup is recorded, not hidden</a:t>
            </a:r>
          </a:p>
        </p:txBody>
      </p:sp>
      <p:sp>
        <p:nvSpPr>
          <p:cNvPr id="3" name="Resolution and operations-subtitle">
            <a:extLst xmlns:a="http://schemas.openxmlformats.org/drawingml/2006/main">
              <a:ext uri="{FF2B5EF4-FFF2-40B4-BE49-F238E27FC236}">
                <a16:creationId xmlns:a16="http://schemas.microsoft.com/office/drawing/2014/main" id="{34470379-A6A2-4285-855F-0C22A2E6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A direct URL is a result, not an assumption; credentials and temporary failures remain visible in the data.</a:t>
            </a:r>
          </a:p>
        </p:txBody>
      </p:sp>
      <p:sp>
        <p:nvSpPr>
          <p:cNvPr id="4" name="resolution-strip">
            <a:extLst xmlns:a="http://schemas.openxmlformats.org/drawingml/2006/main">
              <a:ext uri="{FF2B5EF4-FFF2-40B4-BE49-F238E27FC236}">
                <a16:creationId xmlns:a16="http://schemas.microsoft.com/office/drawing/2014/main" id="{AA67343B-1E3D-4562-ABCE-C9FBCA1C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05537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sp>
        <p:nvSpPr>
          <p:cNvPr id="5" name="outcome-0-surface">
            <a:extLst xmlns:a="http://schemas.openxmlformats.org/drawingml/2006/main">
              <a:ext uri="{FF2B5EF4-FFF2-40B4-BE49-F238E27FC236}">
                <a16:creationId xmlns:a16="http://schemas.microsoft.com/office/drawing/2014/main" id="{1C59F176-730A-4278-B774-43B88B64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2819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5F7F0"/>
          </a:solidFill>
          <a:ln xmlns:a="http://schemas.openxmlformats.org/drawingml/2006/main" w="9525">
            <a:solidFill>
              <a:srgbClr val="19946A"/>
            </a:solidFill>
            <a:prstDash val="solid"/>
          </a:ln>
        </p:spPr>
      </p:sp>
      <p:sp>
        <p:nvSpPr>
          <p:cNvPr id="6" name="outcome-0-dot">
            <a:extLst xmlns:a="http://schemas.openxmlformats.org/drawingml/2006/main">
              <a:ext uri="{FF2B5EF4-FFF2-40B4-BE49-F238E27FC236}">
                <a16:creationId xmlns:a16="http://schemas.microsoft.com/office/drawing/2014/main" id="{B7A24B9D-BC49-4CBB-B7DA-8DA18A32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946A"/>
          </a:solidFill>
          <a:ln xmlns:a="http://schemas.openxmlformats.org/drawingml/2006/main" w="0">
            <a:solidFill>
              <a:srgbClr val="19946A"/>
            </a:solidFill>
            <a:prstDash val="solid"/>
          </a:ln>
        </p:spPr>
      </p:sp>
      <p:sp>
        <p:nvSpPr>
          <p:cNvPr id="7" name="outcome-0-label">
            <a:extLst xmlns:a="http://schemas.openxmlformats.org/drawingml/2006/main">
              <a:ext uri="{FF2B5EF4-FFF2-40B4-BE49-F238E27FC236}">
                <a16:creationId xmlns:a16="http://schemas.microsoft.com/office/drawing/2014/main" id="{46591722-2C02-4412-96A2-ADA8A410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90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direct image</a:t>
            </a:r>
          </a:p>
        </p:txBody>
      </p:sp>
      <p:sp>
        <p:nvSpPr>
          <p:cNvPr id="8" name="outcome-0-status">
            <a:extLst xmlns:a="http://schemas.openxmlformats.org/drawingml/2006/main">
              <a:ext uri="{FF2B5EF4-FFF2-40B4-BE49-F238E27FC236}">
                <a16:creationId xmlns:a16="http://schemas.microsoft.com/office/drawing/2014/main" id="{604BF102-5A1F-41CD-9D36-077DA437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27A"/>
                </a:solidFill>
              </a:defRPr>
            </a:pPr>
            <a:r>
              <a:rPr sz="1050">
                <a:solidFill>
                  <a:srgbClr val="52627A"/>
                </a:solidFill>
              </a:rPr>
              <a:t>resolved</a:t>
            </a:r>
          </a:p>
        </p:txBody>
      </p:sp>
      <p:sp>
        <p:nvSpPr>
          <p:cNvPr id="9" name="outcome-1-surface">
            <a:extLst xmlns:a="http://schemas.openxmlformats.org/drawingml/2006/main">
              <a:ext uri="{FF2B5EF4-FFF2-40B4-BE49-F238E27FC236}">
                <a16:creationId xmlns:a16="http://schemas.microsoft.com/office/drawing/2014/main" id="{3E1A87CF-F323-4E68-981A-0515BAC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2819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0" name="outcome-1-dot">
            <a:extLst xmlns:a="http://schemas.openxmlformats.org/drawingml/2006/main">
              <a:ext uri="{FF2B5EF4-FFF2-40B4-BE49-F238E27FC236}">
                <a16:creationId xmlns:a16="http://schemas.microsoft.com/office/drawing/2014/main" id="{2DB0BC57-BAAB-4BDE-96A0-437E2C3E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outcome-1-label">
            <a:extLst xmlns:a="http://schemas.openxmlformats.org/drawingml/2006/main">
              <a:ext uri="{FF2B5EF4-FFF2-40B4-BE49-F238E27FC236}">
                <a16:creationId xmlns:a16="http://schemas.microsoft.com/office/drawing/2014/main" id="{481095AB-28AD-41D7-937B-BF791225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90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page only</a:t>
            </a:r>
          </a:p>
        </p:txBody>
      </p:sp>
      <p:sp>
        <p:nvSpPr>
          <p:cNvPr id="12" name="outcome-1-status">
            <a:extLst xmlns:a="http://schemas.openxmlformats.org/drawingml/2006/main">
              <a:ext uri="{FF2B5EF4-FFF2-40B4-BE49-F238E27FC236}">
                <a16:creationId xmlns:a16="http://schemas.microsoft.com/office/drawing/2014/main" id="{12B4366D-B8D2-44D0-8F40-2AB388B8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57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27A"/>
                </a:solidFill>
              </a:defRPr>
            </a:pPr>
            <a:r>
              <a:rPr sz="1050">
                <a:solidFill>
                  <a:srgbClr val="52627A"/>
                </a:solidFill>
              </a:rPr>
              <a:t>resolved_page_only</a:t>
            </a:r>
          </a:p>
        </p:txBody>
      </p:sp>
      <p:sp>
        <p:nvSpPr>
          <p:cNvPr id="13" name="outcome-2-surface">
            <a:extLst xmlns:a="http://schemas.openxmlformats.org/drawingml/2006/main">
              <a:ext uri="{FF2B5EF4-FFF2-40B4-BE49-F238E27FC236}">
                <a16:creationId xmlns:a16="http://schemas.microsoft.com/office/drawing/2014/main" id="{123EC286-8BC5-45F7-B04C-BA3CDC9A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76550"/>
            <a:ext cx="2819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EAF0"/>
          </a:solidFill>
          <a:ln xmlns:a="http://schemas.openxmlformats.org/drawingml/2006/main" w="9525">
            <a:solidFill>
              <a:srgbClr val="E9476C"/>
            </a:solidFill>
            <a:prstDash val="solid"/>
          </a:ln>
        </p:spPr>
      </p:sp>
      <p:sp>
        <p:nvSpPr>
          <p:cNvPr id="14" name="outcome-2-dot">
            <a:extLst xmlns:a="http://schemas.openxmlformats.org/drawingml/2006/main">
              <a:ext uri="{FF2B5EF4-FFF2-40B4-BE49-F238E27FC236}">
                <a16:creationId xmlns:a16="http://schemas.microsoft.com/office/drawing/2014/main" id="{D65B78BF-218B-4ABA-A7C0-1A089ABB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476C"/>
          </a:solidFill>
          <a:ln xmlns:a="http://schemas.openxmlformats.org/drawingml/2006/main" w="0">
            <a:solidFill>
              <a:srgbClr val="E9476C"/>
            </a:solidFill>
            <a:prstDash val="solid"/>
          </a:ln>
        </p:spPr>
      </p:sp>
      <p:sp>
        <p:nvSpPr>
          <p:cNvPr id="15" name="outcome-2-label">
            <a:extLst xmlns:a="http://schemas.openxmlformats.org/drawingml/2006/main">
              <a:ext uri="{FF2B5EF4-FFF2-40B4-BE49-F238E27FC236}">
                <a16:creationId xmlns:a16="http://schemas.microsoft.com/office/drawing/2014/main" id="{A3363EEA-008F-4994-8908-F50C35E5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explicit failure</a:t>
            </a:r>
          </a:p>
        </p:txBody>
      </p:sp>
      <p:sp>
        <p:nvSpPr>
          <p:cNvPr id="16" name="outcome-2-status">
            <a:extLst xmlns:a="http://schemas.openxmlformats.org/drawingml/2006/main">
              <a:ext uri="{FF2B5EF4-FFF2-40B4-BE49-F238E27FC236}">
                <a16:creationId xmlns:a16="http://schemas.microsoft.com/office/drawing/2014/main" id="{4CEAB9B0-27FE-483B-A24C-34C83E9E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27A"/>
                </a:solidFill>
              </a:defRPr>
            </a:pPr>
            <a:r>
              <a:rPr sz="1050">
                <a:solidFill>
                  <a:srgbClr val="52627A"/>
                </a:solidFill>
              </a:rPr>
              <a:t>status + reason</a:t>
            </a:r>
          </a:p>
        </p:txBody>
      </p:sp>
      <p:sp>
        <p:nvSpPr>
          <p:cNvPr id="17" name="ops-cache-dot">
            <a:extLst xmlns:a="http://schemas.openxmlformats.org/drawingml/2006/main">
              <a:ext uri="{FF2B5EF4-FFF2-40B4-BE49-F238E27FC236}">
                <a16:creationId xmlns:a16="http://schemas.microsoft.com/office/drawing/2014/main" id="{4ED3F8FF-1947-4155-9DA9-9D1ACA9B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8" name="ops-cache-label">
            <a:extLst xmlns:a="http://schemas.openxmlformats.org/drawingml/2006/main">
              <a:ext uri="{FF2B5EF4-FFF2-40B4-BE49-F238E27FC236}">
                <a16:creationId xmlns:a16="http://schemas.microsoft.com/office/drawing/2014/main" id="{66B98027-4E3E-4D6B-94E1-7CBF50D6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Resume without starting over</a:t>
            </a:r>
          </a:p>
        </p:txBody>
      </p:sp>
      <p:sp>
        <p:nvSpPr>
          <p:cNvPr id="19" name="ops-cache-body">
            <a:extLst xmlns:a="http://schemas.openxmlformats.org/drawingml/2006/main">
              <a:ext uri="{FF2B5EF4-FFF2-40B4-BE49-F238E27FC236}">
                <a16:creationId xmlns:a16="http://schemas.microsoft.com/office/drawing/2014/main" id="{3CECBBFF-BDD8-4EAC-B89F-317253A3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Stable rows are reused; temporary failures and expiring or credential-improvable URLs are revisited.</a:t>
            </a:r>
          </a:p>
        </p:txBody>
      </p:sp>
      <p:sp>
        <p:nvSpPr>
          <p:cNvPr id="20" name="ops-publish-dot">
            <a:extLst xmlns:a="http://schemas.openxmlformats.org/drawingml/2006/main">
              <a:ext uri="{FF2B5EF4-FFF2-40B4-BE49-F238E27FC236}">
                <a16:creationId xmlns:a16="http://schemas.microsoft.com/office/drawing/2014/main" id="{A43A9066-067F-4CCC-A77B-4463D262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F22"/>
          </a:solidFill>
          <a:ln xmlns:a="http://schemas.openxmlformats.org/drawingml/2006/main" w="0">
            <a:solidFill>
              <a:srgbClr val="E4BF22"/>
            </a:solidFill>
            <a:prstDash val="solid"/>
          </a:ln>
        </p:spPr>
      </p:sp>
      <p:sp>
        <p:nvSpPr>
          <p:cNvPr id="21" name="ops-publish-label">
            <a:extLst xmlns:a="http://schemas.openxmlformats.org/drawingml/2006/main">
              <a:ext uri="{FF2B5EF4-FFF2-40B4-BE49-F238E27FC236}">
                <a16:creationId xmlns:a16="http://schemas.microsoft.com/office/drawing/2014/main" id="{24B93273-D16A-4E3B-8E55-5BEAF5D8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Publish verified artifacts</a:t>
            </a:r>
          </a:p>
        </p:txBody>
      </p:sp>
      <p:sp>
        <p:nvSpPr>
          <p:cNvPr id="22" name="ops-publish-body">
            <a:extLst xmlns:a="http://schemas.openxmlformats.org/drawingml/2006/main">
              <a:ext uri="{FF2B5EF4-FFF2-40B4-BE49-F238E27FC236}">
                <a16:creationId xmlns:a16="http://schemas.microsoft.com/office/drawing/2014/main" id="{E87F6147-D738-422E-8CDD-1E3B8846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Verified shards, metadata, map, and hero asset are uploaded; a local receipt records the commit.</a:t>
            </a:r>
          </a:p>
        </p:txBody>
      </p:sp>
      <p:sp>
        <p:nvSpPr>
          <p:cNvPr id="2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841E7D8E-2154-4591-B8FE-F9D98A5E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58150297-ADBF-4F9F-9932-FC4926FB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4829A"/>
                </a:solidFill>
              </a:defRPr>
            </a:pPr>
            <a:r>
              <a:rPr sz="825" b="1">
                <a:solidFill>
                  <a:srgbClr val="74829A"/>
                </a:solidFill>
              </a:rPr>
              <a:t>OSM POLYGON IMAGE TAG · RESEARCH OVERVIEW</a:t>
            </a:r>
          </a:p>
        </p:txBody>
      </p:sp>
      <p:sp>
        <p:nvSpPr>
          <p:cNvPr id="25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F2F53DB3-1F6E-4B1D-8E04-26FA4D0C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5151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4829A"/>
                </a:solidFill>
              </a:defRPr>
            </a:pPr>
            <a:r>
              <a:rPr sz="900" b="1">
                <a:solidFill>
                  <a:srgbClr val="74829A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303174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eographic coverage-kicker">
            <a:extLst xmlns:a="http://schemas.openxmlformats.org/drawingml/2006/main">
              <a:ext uri="{FF2B5EF4-FFF2-40B4-BE49-F238E27FC236}">
                <a16:creationId xmlns:a16="http://schemas.microsoft.com/office/drawing/2014/main" id="{4F640108-77A6-459F-992A-24CF2AA0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GEOGRAPHIC COVERAGE</a:t>
            </a:r>
          </a:p>
        </p:txBody>
      </p:sp>
      <p:sp>
        <p:nvSpPr>
          <p:cNvPr id="2" name="Geographic coverage-title">
            <a:extLst xmlns:a="http://schemas.openxmlformats.org/drawingml/2006/main">
              <a:ext uri="{FF2B5EF4-FFF2-40B4-BE49-F238E27FC236}">
                <a16:creationId xmlns:a16="http://schemas.microsoft.com/office/drawing/2014/main" id="{D1DCEDF9-98F8-4CD1-95CA-F7F27F96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F45"/>
                </a:solidFill>
              </a:defRPr>
            </a:pPr>
            <a:r>
              <a:rPr sz="2700" b="1">
                <a:solidFill>
                  <a:srgbClr val="0B1F45"/>
                </a:solidFill>
              </a:rPr>
              <a:t>Where are these polygons?</a:t>
            </a:r>
          </a:p>
        </p:txBody>
      </p:sp>
      <p:sp>
        <p:nvSpPr>
          <p:cNvPr id="3" name="Geographic coverage-subtitle">
            <a:extLst xmlns:a="http://schemas.openxmlformats.org/drawingml/2006/main">
              <a:ext uri="{FF2B5EF4-FFF2-40B4-BE49-F238E27FC236}">
                <a16:creationId xmlns:a16="http://schemas.microsoft.com/office/drawing/2014/main" id="{C060663F-6F5F-4BFB-AE57-8D83ABD8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The dataset card renders a deterministic H3 density map from finalized polygon shards only.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013fb90e54bf8"/>
          <a:srcRect xmlns:a="http://schemas.openxmlformats.org/drawingml/2006/main" l="0" t="5714" r="0" b="5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552700"/>
            <a:ext cx="8001000" cy="3543300"/>
          </a:xfrm>
          <a:prstGeom xmlns:a="http://schemas.openxmlformats.org/drawingml/2006/main" prst="rect">
            <a:avLst/>
          </a:prstGeom>
        </p:spPr>
      </p:pic>
      <p:sp>
        <p:nvSpPr>
          <p:cNvPr id="5" name="map-callout">
            <a:extLst xmlns:a="http://schemas.openxmlformats.org/drawingml/2006/main">
              <a:ext uri="{FF2B5EF4-FFF2-40B4-BE49-F238E27FC236}">
                <a16:creationId xmlns:a16="http://schemas.microsoft.com/office/drawing/2014/main" id="{3403F572-C36D-4C84-AF36-3203B7AB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2133600" cy="264795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6" name="map-cell-count">
            <a:extLst xmlns:a="http://schemas.openxmlformats.org/drawingml/2006/main">
              <a:ext uri="{FF2B5EF4-FFF2-40B4-BE49-F238E27FC236}">
                <a16:creationId xmlns:a16="http://schemas.microsoft.com/office/drawing/2014/main" id="{5BD49B83-610F-451D-B542-A4D9D376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051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E4BF22"/>
                </a:solidFill>
              </a:defRPr>
            </a:pPr>
            <a:r>
              <a:rPr sz="2850" b="1">
                <a:solidFill>
                  <a:srgbClr val="E4BF22"/>
                </a:solidFill>
              </a:rPr>
              <a:t>3,352</a:t>
            </a:r>
          </a:p>
        </p:txBody>
      </p:sp>
      <p:sp>
        <p:nvSpPr>
          <p:cNvPr id="7" name="map-cell-label">
            <a:extLst xmlns:a="http://schemas.openxmlformats.org/drawingml/2006/main">
              <a:ext uri="{FF2B5EF4-FFF2-40B4-BE49-F238E27FC236}">
                <a16:creationId xmlns:a16="http://schemas.microsoft.com/office/drawing/2014/main" id="{F7BB3DC4-F8C9-4B05-8A63-AC56D31D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5760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H3 cells</a:t>
            </a:r>
          </a:p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with observations</a:t>
            </a:r>
          </a:p>
        </p:txBody>
      </p:sp>
      <p:sp>
        <p:nvSpPr>
          <p:cNvPr id="8" name="map-callout-rule">
            <a:extLst xmlns:a="http://schemas.openxmlformats.org/drawingml/2006/main">
              <a:ext uri="{FF2B5EF4-FFF2-40B4-BE49-F238E27FC236}">
                <a16:creationId xmlns:a16="http://schemas.microsoft.com/office/drawing/2014/main" id="{A241CB18-95F5-4E92-AE3F-77B22A12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862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F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p-callout-body">
            <a:extLst xmlns:a="http://schemas.openxmlformats.org/drawingml/2006/main">
              <a:ext uri="{FF2B5EF4-FFF2-40B4-BE49-F238E27FC236}">
                <a16:creationId xmlns:a16="http://schemas.microsoft.com/office/drawing/2014/main" id="{E7EA979A-0A25-4C39-8F21-BF310535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33900"/>
            <a:ext cx="163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D9E4F7"/>
                </a:solidFill>
              </a:defRPr>
            </a:pPr>
            <a:r>
              <a:rPr sz="1050">
                <a:solidFill>
                  <a:srgbClr val="D9E4F7"/>
                </a:solidFill>
              </a:rPr>
              <a:t>Resolution 3 · logarithmic magma scale · each polygon row counted once by geometry centroid</a:t>
            </a:r>
          </a:p>
        </p:txBody>
      </p:sp>
      <p:sp>
        <p:nvSpPr>
          <p:cNvPr id="10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40295D49-D8AC-49C5-9B53-0AD23C87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FDF52F11-2DEF-4236-BC15-D3F45BF2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4829A"/>
                </a:solidFill>
              </a:defRPr>
            </a:pPr>
            <a:r>
              <a:rPr sz="825" b="1">
                <a:solidFill>
                  <a:srgbClr val="74829A"/>
                </a:solidFill>
              </a:rPr>
              <a:t>OSM POLYGON IMAGE TAG · RESEARCH OVERVIEW</a:t>
            </a:r>
          </a:p>
        </p:txBody>
      </p:sp>
      <p:sp>
        <p:nvSpPr>
          <p:cNvPr id="12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D74EC2E8-7B64-4BBD-849A-FB81CC98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5151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4829A"/>
                </a:solidFill>
              </a:defRPr>
            </a:pPr>
            <a:r>
              <a:rPr sz="900" b="1">
                <a:solidFill>
                  <a:srgbClr val="74829A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5936936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akeaway-kicker">
            <a:extLst xmlns:a="http://schemas.openxmlformats.org/drawingml/2006/main">
              <a:ext uri="{FF2B5EF4-FFF2-40B4-BE49-F238E27FC236}">
                <a16:creationId xmlns:a16="http://schemas.microsoft.com/office/drawing/2014/main" id="{1A932AAE-9151-443E-81B4-E5EF34F7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TAKEAWAY</a:t>
            </a:r>
          </a:p>
        </p:txBody>
      </p:sp>
      <p:sp>
        <p:nvSpPr>
          <p:cNvPr id="2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E1E7910E-C1C9-425C-9B2A-15F91868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F45"/>
                </a:solidFill>
              </a:defRPr>
            </a:pPr>
            <a:r>
              <a:rPr sz="2700" b="1">
                <a:solidFill>
                  <a:srgbClr val="0B1F45"/>
                </a:solidFill>
              </a:rPr>
              <a:t>What the dataset gives you</a:t>
            </a:r>
          </a:p>
        </p:txBody>
      </p:sp>
      <p:sp>
        <p:nvSpPr>
          <p:cNvPr id="3" name="Takeaway-subtitle">
            <a:extLst xmlns:a="http://schemas.openxmlformats.org/drawingml/2006/main">
              <a:ext uri="{FF2B5EF4-FFF2-40B4-BE49-F238E27FC236}">
                <a16:creationId xmlns:a16="http://schemas.microsoft.com/office/drawing/2014/main" id="{4BAFEC43-D826-47F0-9110-131AA9F3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Versioned contracts, finalized manifests, checkpoints, and deterministic statistics make rebuilds repeatable; Hugging Face distributes verified artifacts.</a:t>
            </a:r>
          </a:p>
        </p:txBody>
      </p:sp>
      <p:sp>
        <p:nvSpPr>
          <p:cNvPr id="4" name="guarantee-01-dot">
            <a:extLst xmlns:a="http://schemas.openxmlformats.org/drawingml/2006/main">
              <a:ext uri="{FF2B5EF4-FFF2-40B4-BE49-F238E27FC236}">
                <a16:creationId xmlns:a16="http://schemas.microsoft.com/office/drawing/2014/main" id="{200B713B-9DC5-4FF8-BAE6-93237BCE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" name="guarantee-01-number">
            <a:extLst xmlns:a="http://schemas.openxmlformats.org/drawingml/2006/main">
              <a:ext uri="{FF2B5EF4-FFF2-40B4-BE49-F238E27FC236}">
                <a16:creationId xmlns:a16="http://schemas.microsoft.com/office/drawing/2014/main" id="{FD91D21E-FDD9-4E20-B568-28853E79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guarantee-01-title">
            <a:extLst xmlns:a="http://schemas.openxmlformats.org/drawingml/2006/main">
              <a:ext uri="{FF2B5EF4-FFF2-40B4-BE49-F238E27FC236}">
                <a16:creationId xmlns:a16="http://schemas.microsoft.com/office/drawing/2014/main" id="{9AB48948-9279-47EB-B38C-E5303837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47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F45"/>
                </a:solidFill>
              </a:defRPr>
            </a:pPr>
            <a:r>
              <a:rPr sz="1650" b="1">
                <a:solidFill>
                  <a:srgbClr val="0B1F45"/>
                </a:solidFill>
              </a:rPr>
              <a:t>Context</a:t>
            </a:r>
          </a:p>
        </p:txBody>
      </p:sp>
      <p:sp>
        <p:nvSpPr>
          <p:cNvPr id="7" name="guarantee-01-body">
            <a:extLst xmlns:a="http://schemas.openxmlformats.org/drawingml/2006/main">
              <a:ext uri="{FF2B5EF4-FFF2-40B4-BE49-F238E27FC236}">
                <a16:creationId xmlns:a16="http://schemas.microsoft.com/office/drawing/2014/main" id="{6C536422-DE46-437B-96F4-E31CFE2E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Closed OSM ways and relations stay linked to full tags, geometry, area, and source provenance.</a:t>
            </a:r>
          </a:p>
        </p:txBody>
      </p:sp>
      <p:sp>
        <p:nvSpPr>
          <p:cNvPr id="8" name="guarantee-02-dot">
            <a:extLst xmlns:a="http://schemas.openxmlformats.org/drawingml/2006/main">
              <a:ext uri="{FF2B5EF4-FFF2-40B4-BE49-F238E27FC236}">
                <a16:creationId xmlns:a16="http://schemas.microsoft.com/office/drawing/2014/main" id="{16A95BE6-68CA-461E-BA23-2C4ABA67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476C"/>
          </a:solidFill>
          <a:ln xmlns:a="http://schemas.openxmlformats.org/drawingml/2006/main" w="0">
            <a:solidFill>
              <a:srgbClr val="E9476C"/>
            </a:solidFill>
            <a:prstDash val="solid"/>
          </a:ln>
        </p:spPr>
      </p:sp>
      <p:sp>
        <p:nvSpPr>
          <p:cNvPr id="9" name="guarantee-02-number">
            <a:extLst xmlns:a="http://schemas.openxmlformats.org/drawingml/2006/main">
              <a:ext uri="{FF2B5EF4-FFF2-40B4-BE49-F238E27FC236}">
                <a16:creationId xmlns:a16="http://schemas.microsoft.com/office/drawing/2014/main" id="{B908F332-CAAB-4530-B7FB-CC2EDE2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guarantee-02-title">
            <a:extLst xmlns:a="http://schemas.openxmlformats.org/drawingml/2006/main">
              <a:ext uri="{FF2B5EF4-FFF2-40B4-BE49-F238E27FC236}">
                <a16:creationId xmlns:a16="http://schemas.microsoft.com/office/drawing/2014/main" id="{87300474-94BF-4810-9C91-D0163D4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F45"/>
                </a:solidFill>
              </a:defRPr>
            </a:pPr>
            <a:r>
              <a:rPr sz="1650" b="1">
                <a:solidFill>
                  <a:srgbClr val="0B1F45"/>
                </a:solidFill>
              </a:rPr>
              <a:t>Resolution</a:t>
            </a:r>
          </a:p>
        </p:txBody>
      </p:sp>
      <p:sp>
        <p:nvSpPr>
          <p:cNvPr id="11" name="guarantee-02-body">
            <a:extLst xmlns:a="http://schemas.openxmlformats.org/drawingml/2006/main">
              <a:ext uri="{FF2B5EF4-FFF2-40B4-BE49-F238E27FC236}">
                <a16:creationId xmlns:a16="http://schemas.microsoft.com/office/drawing/2014/main" id="{2CA7C87B-ADBA-47BC-9D86-8B5E0C52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576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Provider-specific identifiers become direct or page URLs when the provider gives enough evidence.</a:t>
            </a:r>
          </a:p>
        </p:txBody>
      </p:sp>
      <p:sp>
        <p:nvSpPr>
          <p:cNvPr id="12" name="guarantee-03-dot">
            <a:extLst xmlns:a="http://schemas.openxmlformats.org/drawingml/2006/main">
              <a:ext uri="{FF2B5EF4-FFF2-40B4-BE49-F238E27FC236}">
                <a16:creationId xmlns:a16="http://schemas.microsoft.com/office/drawing/2014/main" id="{E07583FE-433A-4EF9-898D-CE2CD7D9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F22"/>
          </a:solidFill>
          <a:ln xmlns:a="http://schemas.openxmlformats.org/drawingml/2006/main" w="0">
            <a:solidFill>
              <a:srgbClr val="E4BF22"/>
            </a:solidFill>
            <a:prstDash val="solid"/>
          </a:ln>
        </p:spPr>
      </p:sp>
      <p:sp>
        <p:nvSpPr>
          <p:cNvPr id="13" name="guarantee-03-number">
            <a:extLst xmlns:a="http://schemas.openxmlformats.org/drawingml/2006/main">
              <a:ext uri="{FF2B5EF4-FFF2-40B4-BE49-F238E27FC236}">
                <a16:creationId xmlns:a16="http://schemas.microsoft.com/office/drawing/2014/main" id="{D597C5F5-783A-4627-B8BC-9769AC93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guarantee-03-title">
            <a:extLst xmlns:a="http://schemas.openxmlformats.org/drawingml/2006/main">
              <a:ext uri="{FF2B5EF4-FFF2-40B4-BE49-F238E27FC236}">
                <a16:creationId xmlns:a16="http://schemas.microsoft.com/office/drawing/2014/main" id="{40C61922-C538-4718-B521-3AFF3543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29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F45"/>
                </a:solidFill>
              </a:defRPr>
            </a:pPr>
            <a:r>
              <a:rPr sz="1650" b="1">
                <a:solidFill>
                  <a:srgbClr val="0B1F45"/>
                </a:solidFill>
              </a:rPr>
              <a:t>Reproducibility</a:t>
            </a:r>
          </a:p>
        </p:txBody>
      </p:sp>
      <p:sp>
        <p:nvSpPr>
          <p:cNvPr id="15" name="guarantee-03-body">
            <a:extLst xmlns:a="http://schemas.openxmlformats.org/drawingml/2006/main">
              <a:ext uri="{FF2B5EF4-FFF2-40B4-BE49-F238E27FC236}">
                <a16:creationId xmlns:a16="http://schemas.microsoft.com/office/drawing/2014/main" id="{99D45D73-6F40-49AE-8E20-8AAC7FF9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482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Versioned shards, checkpoints, deterministic statistics, and Hugging Face publication make the build repeatable.</a:t>
            </a:r>
          </a:p>
        </p:txBody>
      </p:sp>
      <p:sp>
        <p:nvSpPr>
          <p:cNvPr id="16" name="close-rule">
            <a:extLst xmlns:a="http://schemas.openxmlformats.org/drawingml/2006/main">
              <a:ext uri="{FF2B5EF4-FFF2-40B4-BE49-F238E27FC236}">
                <a16:creationId xmlns:a16="http://schemas.microsoft.com/office/drawing/2014/main" id="{D302937E-1F23-4405-A852-5BA6FA68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ose-links">
            <a:extLst xmlns:a="http://schemas.openxmlformats.org/drawingml/2006/main">
              <a:ext uri="{FF2B5EF4-FFF2-40B4-BE49-F238E27FC236}">
                <a16:creationId xmlns:a16="http://schemas.microsoft.com/office/drawing/2014/main" id="{AC29F72A-FC74-4BA6-9FE1-1CFEA52A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74829A"/>
                </a:solidFill>
              </a:defRPr>
            </a:pPr>
            <a:r>
              <a:rPr sz="1050">
                <a:solidFill>
                  <a:srgbClr val="74829A"/>
                </a:solidFill>
              </a:rPr>
              <a:t>OpenStreetMap data © contributors · ODbL 1.0 · github.com/NoeFlandre/osm-polygon-image-tag · HF dataset</a:t>
            </a:r>
          </a:p>
        </p:txBody>
      </p:sp>
      <p:sp>
        <p:nvSpPr>
          <p:cNvPr id="18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69CB24F4-BAB4-4457-98FF-74AA26EC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9201EE62-C53A-4A00-A5F4-7B20F56D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4829A"/>
                </a:solidFill>
              </a:defRPr>
            </a:pPr>
            <a:r>
              <a:rPr sz="825" b="1">
                <a:solidFill>
                  <a:srgbClr val="74829A"/>
                </a:solidFill>
              </a:rPr>
              <a:t>OSM POLYGON IMAGE TAG · RESEARCH OVERVIEW</a:t>
            </a:r>
          </a:p>
        </p:txBody>
      </p:sp>
      <p:sp>
        <p:nvSpPr>
          <p:cNvPr id="20" name="footer-right-8">
            <a:extLst xmlns:a="http://schemas.openxmlformats.org/drawingml/2006/main">
              <a:ext uri="{FF2B5EF4-FFF2-40B4-BE49-F238E27FC236}">
                <a16:creationId xmlns:a16="http://schemas.microsoft.com/office/drawing/2014/main" id="{BC4CAF36-5475-49A9-927F-8BEA1717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5151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4829A"/>
                </a:solidFill>
              </a:defRPr>
            </a:pPr>
            <a:r>
              <a:rPr sz="900" b="1">
                <a:solidFill>
                  <a:srgbClr val="74829A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831180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2026-08-08T06:02:22.3250000Z</dcterms:created>
  <dcterms:modified xsi:type="dcterms:W3CDTF">2026-08-08T06:02:22.3250000Z</dcterms:modified>
</coreProperties>
</file>